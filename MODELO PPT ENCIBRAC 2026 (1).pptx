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6" r:id="rId9"/>
    <p:sldId id="264" r:id="rId10"/>
    <p:sldId id="265" r:id="rId11"/>
    <p:sldId id="259" r:id="rId12"/>
    <p:sldId id="261" r:id="rId13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5036F1-9BA6-25FD-6CE1-18A0601EEE93}" v="1314" dt="2026-10-13T22:41:00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738664"/>
          </a:xfrm>
          <a:prstGeom prst="rect">
            <a:avLst/>
          </a:prstGeom>
          <a:solidFill>
            <a:srgbClr val="ED7D31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b="0" i="0">
                <a:solidFill>
                  <a:srgbClr val="F0F6FC"/>
                </a:solidFill>
                <a:latin typeface="ui-monospace"/>
                <a:ea typeface="ui-monospace"/>
                <a:cs typeface="ui-monospace"/>
              </a:rPr>
              <a:t>Impacto Social da Tecnologia em empresas arcaicas</a:t>
            </a:r>
            <a:endParaRPr lang="pt-BR" sz="2400" dirty="0">
              <a:solidFill>
                <a:srgbClr val="F0F6FC"/>
              </a:solidFill>
              <a:ea typeface="Calibri"/>
              <a:cs typeface="Calibri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/>
              <a:ea typeface="ＭＳ Ｐゴシック"/>
            </a:endParaRPr>
          </a:p>
          <a:p>
            <a:pPr>
              <a:spcBef>
                <a:spcPct val="50000"/>
              </a:spcBef>
            </a:pP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</a:rPr>
              <a:t>Gustavo Da Silva Santos</a:t>
            </a:r>
            <a:endParaRPr lang="pt-BR" altLang="pt-BR" sz="1200" dirty="0">
              <a:solidFill>
                <a:srgbClr val="153553"/>
              </a:solidFill>
              <a:latin typeface="Verdana"/>
              <a:ea typeface="ＭＳ Ｐゴシック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/>
                <a:ea typeface="ＭＳ Ｐゴシック"/>
              </a:rPr>
              <a:t>Gustavo De Morais Rodri</a:t>
            </a: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</a:rPr>
              <a:t>gues</a:t>
            </a:r>
            <a:endParaRPr lang="pt-BR" altLang="pt-BR" sz="120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/>
                <a:ea typeface="ＭＳ Ｐゴシック"/>
              </a:rPr>
              <a:t>Guilherme Cerqueira </a:t>
            </a: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</a:rPr>
              <a:t>Vaz</a:t>
            </a:r>
          </a:p>
          <a:p>
            <a:pPr>
              <a:spcBef>
                <a:spcPct val="50000"/>
              </a:spcBef>
            </a:pPr>
            <a:r>
              <a:rPr lang="pt-BR" altLang="pt-BR" sz="1200">
                <a:solidFill>
                  <a:srgbClr val="153553"/>
                </a:solidFill>
                <a:latin typeface="Verdana"/>
                <a:ea typeface="ＭＳ Ｐゴシック"/>
              </a:rPr>
              <a:t>Guilherme Lopez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NOME DO CURSO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195" y="3663097"/>
            <a:ext cx="3045124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 Palavras-Chave</a:t>
            </a:r>
          </a:p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*Empresas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*Tecnologias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 algn="r">
              <a:spcBef>
                <a:spcPct val="50000"/>
              </a:spcBef>
            </a:pPr>
            <a:r>
              <a:rPr lang="pt-BR" sz="1000" b="1">
                <a:solidFill>
                  <a:srgbClr val="FF0000"/>
                </a:solidFill>
                <a:latin typeface="Verdana"/>
                <a:ea typeface="ＭＳ Ｐゴシック"/>
              </a:rPr>
              <a:t>*Mudanças</a:t>
            </a:r>
            <a:endParaRPr lang="pt-BR" sz="1000" b="1" dirty="0">
              <a:solidFill>
                <a:srgbClr val="FF0000"/>
              </a:solidFill>
              <a:latin typeface="Verdana"/>
              <a:ea typeface="ＭＳ Ｐゴシック"/>
            </a:endParaRPr>
          </a:p>
          <a:p>
            <a:pPr algn="r">
              <a:spcBef>
                <a:spcPct val="50000"/>
              </a:spcBef>
            </a:pP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Arial" pitchFamily="2" charset="2"/>
              <a:buChar char="•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PROBLEMÁTICA</a:t>
            </a:r>
            <a:endParaRPr lang="pt-BR"/>
          </a:p>
          <a:p>
            <a:pPr marL="285750" indent="-285750"/>
            <a:r>
              <a:rPr lang="pt-BR" sz="1400" dirty="0">
                <a:latin typeface="Verdana"/>
                <a:ea typeface="Verdana"/>
              </a:rPr>
              <a:t>Adaptação de </a:t>
            </a:r>
            <a:r>
              <a:rPr lang="pt-BR" sz="1400">
                <a:latin typeface="Verdana"/>
                <a:ea typeface="Verdana"/>
              </a:rPr>
              <a:t>funcionários sem experiencias  </a:t>
            </a:r>
            <a:endParaRPr lang="pt-BR" sz="1400" dirty="0">
              <a:latin typeface="Verdana"/>
              <a:ea typeface="Verdana"/>
            </a:endParaRPr>
          </a:p>
          <a:p>
            <a:pPr marL="285750" indent="-285750"/>
            <a:r>
              <a:rPr lang="pt-BR" sz="1400">
                <a:latin typeface="Verdana"/>
                <a:ea typeface="Verdana"/>
              </a:rPr>
              <a:t>Falta de tecnologia em empresas antigas / arcaicas</a:t>
            </a:r>
            <a:endParaRPr lang="pt-BR" sz="140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Arial" pitchFamily="2" charset="2"/>
              <a:buChar char="•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JUSTIFICATIVA</a:t>
            </a:r>
          </a:p>
          <a:p>
            <a:pPr marL="171450" indent="-171450">
              <a:buFont typeface="Arial" pitchFamily="2" charset="2"/>
              <a:buChar char="•"/>
            </a:pPr>
            <a:r>
              <a:rPr lang="pt-BR" sz="1400" dirty="0">
                <a:latin typeface="Verdana"/>
                <a:ea typeface="Verdana"/>
              </a:rPr>
              <a:t> Foi feito para demostrar que ate as empresas atuais precisão se atualizar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Arial" pitchFamily="2" charset="2"/>
              <a:buChar char="•"/>
            </a:pPr>
            <a:r>
              <a:rPr lang="pt-BR" sz="1400">
                <a:latin typeface="Verdana"/>
                <a:ea typeface="Verdana"/>
              </a:rPr>
              <a:t>Esse artigo foi feito para demostras as dificuldades</a:t>
            </a:r>
            <a:r>
              <a:rPr lang="pt-BR" sz="1400" dirty="0">
                <a:latin typeface="Verdana"/>
                <a:ea typeface="Verdana"/>
              </a:rPr>
              <a:t> das </a:t>
            </a:r>
            <a:r>
              <a:rPr lang="pt-BR" sz="1400">
                <a:latin typeface="Verdana"/>
                <a:ea typeface="Verdana"/>
              </a:rPr>
              <a:t>empresas para poderem se atualizar e pode competir no mercado / introduzir  </a:t>
            </a:r>
            <a:endParaRPr lang="pt-BR" sz="140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latin typeface="Verdana"/>
                <a:ea typeface="Verdana"/>
              </a:rPr>
              <a:t>  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Arial" pitchFamily="2" charset="2"/>
              <a:buChar char="•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Desafios </a:t>
            </a:r>
            <a:r>
              <a:rPr lang="pt-BR" sz="1400">
                <a:latin typeface="Verdana"/>
                <a:ea typeface="Verdana"/>
              </a:rPr>
              <a:t>que as empresas passam </a:t>
            </a:r>
            <a:endParaRPr lang="pt-BR" sz="140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>
                <a:latin typeface="Verdana"/>
                <a:ea typeface="Verdana"/>
              </a:rPr>
              <a:t> Melhoras da empresa após a tecnologia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Poder mostra como as </a:t>
            </a:r>
            <a:r>
              <a:rPr lang="pt-BR" sz="1400">
                <a:latin typeface="Verdana"/>
                <a:ea typeface="Verdana"/>
              </a:rPr>
              <a:t>empresas arcaicas / desatualizadas pode se expandir </a:t>
            </a:r>
            <a:endParaRPr lang="pt-BR" sz="140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Mostrar que com pequenas atualização pode deixar a empresa mais </a:t>
            </a:r>
            <a:r>
              <a:rPr lang="pt-BR" sz="1400">
                <a:latin typeface="Verdana"/>
                <a:ea typeface="Verdana"/>
              </a:rPr>
              <a:t>grandes </a:t>
            </a:r>
            <a:endParaRPr lang="pt-BR" sz="140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200" dirty="0">
                <a:latin typeface="Calibri"/>
                <a:ea typeface="Calibri"/>
                <a:cs typeface="Calibri"/>
              </a:rPr>
              <a:t>Este trabalho foi feito com a pesquisas em outros artigos bibliográficos com o tema parcialmente parecidos, as busca foi feito em sites de artigos científico (google acadêmico e o </a:t>
            </a:r>
            <a:r>
              <a:rPr lang="pt-BR" sz="1200" dirty="0" err="1">
                <a:latin typeface="Calibri"/>
                <a:ea typeface="Calibri"/>
                <a:cs typeface="Calibri"/>
              </a:rPr>
              <a:t>Researchgate</a:t>
            </a:r>
            <a:r>
              <a:rPr lang="pt-BR" sz="1200" dirty="0">
                <a:latin typeface="Calibri"/>
                <a:ea typeface="Calibri"/>
                <a:cs typeface="Calibri"/>
              </a:rPr>
              <a:t>), com preferencias em artigos com a publicação no período entre 2021 e 2026. As preferencias para busca dos artigos foi os temas "tecnologia", "empresas tradicionais", "transformação digital" e "impacto social".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37160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</a:t>
            </a:r>
            <a:r>
              <a:rPr lang="pt-BR" sz="1400">
                <a:latin typeface="Calibri"/>
                <a:ea typeface="Calibri"/>
                <a:cs typeface="Calibri"/>
              </a:rPr>
              <a:t>Itaú: Exemplo de transformação digital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Calibri"/>
                <a:ea typeface="Calibri"/>
                <a:cs typeface="Calibri"/>
              </a:rPr>
              <a:t>Blue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Projects</a:t>
            </a:r>
            <a:endParaRPr lang="pt-BR" sz="1400"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</a:t>
            </a:r>
            <a:r>
              <a:rPr lang="pt-BR" sz="1400" dirty="0">
                <a:latin typeface="Calibri"/>
                <a:ea typeface="Calibri"/>
                <a:cs typeface="Calibri"/>
              </a:rPr>
              <a:t>Digital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Transformation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and</a:t>
            </a:r>
            <a:r>
              <a:rPr lang="pt-BR" sz="1400" dirty="0">
                <a:latin typeface="Calibri"/>
                <a:ea typeface="Calibri"/>
                <a:cs typeface="Calibri"/>
              </a:rPr>
              <a:t> Its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Impact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on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Organizational</a:t>
            </a:r>
            <a:r>
              <a:rPr lang="pt-BR" sz="1400" dirty="0">
                <a:latin typeface="Calibri"/>
                <a:ea typeface="Calibri"/>
                <a:cs typeface="Calibri"/>
              </a:rPr>
              <a:t> Performance</a:t>
            </a:r>
            <a:endParaRPr lang="pt-BR" sz="1400" dirty="0">
              <a:latin typeface="Verdana"/>
              <a:ea typeface="Verdana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 err="1">
                <a:latin typeface="Calibri"/>
                <a:ea typeface="Calibri"/>
                <a:cs typeface="Calibri"/>
              </a:rPr>
              <a:t>researchgate</a:t>
            </a:r>
            <a:endParaRPr lang="pt-BR" sz="1400"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Challenges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of</a:t>
            </a:r>
            <a:r>
              <a:rPr lang="pt-BR" sz="1400" dirty="0">
                <a:latin typeface="Calibri"/>
                <a:ea typeface="Calibri"/>
                <a:cs typeface="Calibri"/>
              </a:rPr>
              <a:t> Digital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Transformation</a:t>
            </a:r>
            <a:r>
              <a:rPr lang="pt-BR" sz="1400" dirty="0">
                <a:latin typeface="Calibri"/>
                <a:ea typeface="Calibri"/>
                <a:cs typeface="Calibri"/>
              </a:rPr>
              <a:t> in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Traditional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  <a:r>
              <a:rPr lang="pt-BR" sz="1400" dirty="0" err="1">
                <a:latin typeface="Calibri"/>
                <a:ea typeface="Calibri"/>
                <a:cs typeface="Calibri"/>
              </a:rPr>
              <a:t>Organizations</a:t>
            </a:r>
            <a:endParaRPr lang="pt-BR" sz="1400" dirty="0" err="1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 err="1">
                <a:latin typeface="Calibri"/>
                <a:ea typeface="Calibri"/>
                <a:cs typeface="Calibri"/>
              </a:rPr>
              <a:t>Researchgate</a:t>
            </a:r>
            <a:r>
              <a:rPr lang="pt-BR" sz="1400" dirty="0">
                <a:latin typeface="Calibri"/>
                <a:ea typeface="Calibri"/>
                <a:cs typeface="Calibri"/>
              </a:rPr>
              <a:t> 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As empresas sempre estão uma constante </a:t>
            </a:r>
            <a:r>
              <a:rPr lang="pt-BR" sz="1400" dirty="0" err="1">
                <a:latin typeface="Verdana"/>
                <a:ea typeface="Verdana"/>
              </a:rPr>
              <a:t>envolução</a:t>
            </a:r>
            <a:r>
              <a:rPr lang="pt-BR" sz="1400" dirty="0">
                <a:latin typeface="Verdana"/>
                <a:ea typeface="Verdana"/>
              </a:rPr>
              <a:t> para se manterem sempre em destaque no mercado e não ficarem </a:t>
            </a:r>
            <a:r>
              <a:rPr lang="pt-BR" sz="1400">
                <a:latin typeface="Verdana"/>
                <a:ea typeface="Verdana"/>
              </a:rPr>
              <a:t>obsoleta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/>
                <a:ea typeface="Verdana"/>
              </a:rPr>
              <a:t> Mostrar como todo processo poder ser </a:t>
            </a:r>
            <a:r>
              <a:rPr lang="pt-BR" sz="1400" dirty="0" err="1">
                <a:latin typeface="Verdana"/>
                <a:ea typeface="Verdana"/>
              </a:rPr>
              <a:t>dificil</a:t>
            </a:r>
            <a:r>
              <a:rPr lang="pt-BR" sz="1400" dirty="0">
                <a:latin typeface="Verdana"/>
                <a:ea typeface="Verdana"/>
              </a:rPr>
              <a:t> dependendo </a:t>
            </a:r>
            <a:r>
              <a:rPr lang="pt-BR" sz="1400" dirty="0" err="1">
                <a:latin typeface="Verdana"/>
                <a:ea typeface="Verdana"/>
              </a:rPr>
              <a:t>ta</a:t>
            </a:r>
            <a:r>
              <a:rPr lang="pt-BR" sz="1400" dirty="0">
                <a:latin typeface="Verdana"/>
                <a:ea typeface="Verdana"/>
              </a:rPr>
              <a:t> empresas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>
              <a:buNone/>
            </a:pPr>
            <a:r>
              <a:rPr lang="pt-BR" sz="1400" dirty="0">
                <a:latin typeface="Verdana"/>
                <a:ea typeface="Verdana"/>
              </a:rPr>
              <a:t> 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>
              <a:buFont typeface="Arial" pitchFamily="2" charset="2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`\["Itaú: Exemplo de transformação digital"   ]`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Font typeface="Arial" pitchFamily="2" charset="2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 `\[https://www.blueprojects.com.br/itau-exemplo-de-transformacao-digital/]`</a:t>
            </a:r>
            <a:endParaRPr lang="pt-BR"/>
          </a:p>
          <a:p>
            <a:pPr>
              <a:buFont typeface="Arial" pitchFamily="2" charset="2"/>
              <a:buChar char="•"/>
            </a:pPr>
            <a:r>
              <a:rPr lang="pt-BR" sz="1400">
                <a:latin typeface="Calibri"/>
                <a:ea typeface="Calibri"/>
                <a:cs typeface="Calibri"/>
              </a:rPr>
              <a:t>`\[Fonte: Blue </a:t>
            </a:r>
            <a:r>
              <a:rPr lang="pt-BR" sz="1400" err="1">
                <a:latin typeface="Calibri"/>
                <a:ea typeface="Calibri"/>
                <a:cs typeface="Calibri"/>
              </a:rPr>
              <a:t>Projects</a:t>
            </a:r>
            <a:r>
              <a:rPr lang="pt-BR" sz="1400" dirty="0">
                <a:latin typeface="Calibri"/>
                <a:ea typeface="Calibri"/>
                <a:cs typeface="Calibri"/>
              </a:rPr>
              <a:t> (Julho de 2021)]`</a:t>
            </a:r>
            <a:endParaRPr lang="pt-BR" dirty="0"/>
          </a:p>
          <a:p>
            <a:pPr>
              <a:buFont typeface="Arial" pitchFamily="2" charset="2"/>
              <a:buChar char="•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>
              <a:buFont typeface="Arial" pitchFamily="2" charset="2"/>
              <a:buChar char="•"/>
            </a:pPr>
            <a:r>
              <a:rPr lang="pt-BR" sz="100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\[Digital 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Transformation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 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and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 Its 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Impact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 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on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 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Organizational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 Performance]</a:t>
            </a:r>
            <a:endParaRPr lang="pt-BR" sz="1400" dirty="0">
              <a:latin typeface="Verdana"/>
              <a:ea typeface="Verdana"/>
            </a:endParaRPr>
          </a:p>
          <a:p>
            <a:pPr>
              <a:buFont typeface="Arial" pitchFamily="2" charset="2"/>
              <a:buChar char="•"/>
            </a:pP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[https://www.researchgate.net/</a:t>
            </a:r>
            <a:r>
              <a:rPr lang="pt-BR" sz="1000" dirty="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publication</a:t>
            </a:r>
            <a:r>
              <a:rPr lang="pt-BR" sz="1000" dirty="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</a:rPr>
              <a:t>/399408537_Digital_Transformation_and_Its_Impact_on_Organizational_Performance]</a:t>
            </a:r>
            <a:endParaRPr lang="pt-BR" dirty="0">
              <a:ea typeface="Verdana"/>
            </a:endParaRPr>
          </a:p>
          <a:p>
            <a:pPr>
              <a:buFont typeface="Arial" pitchFamily="2" charset="2"/>
              <a:buChar char="•"/>
            </a:pPr>
            <a:r>
              <a:rPr lang="pt-BR" sz="100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  <a:cs typeface="Calibri"/>
              </a:rPr>
              <a:t>\[</a:t>
            </a:r>
            <a:r>
              <a:rPr lang="pt-BR" sz="1000" err="1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  <a:cs typeface="Calibri"/>
              </a:rPr>
              <a:t>researchgate</a:t>
            </a:r>
            <a:r>
              <a:rPr lang="pt-BR" sz="1000">
                <a:solidFill>
                  <a:srgbClr val="F0F6FC"/>
                </a:solidFill>
                <a:highlight>
                  <a:srgbClr val="0D1117"/>
                </a:highlight>
                <a:latin typeface="Consolas"/>
                <a:ea typeface="Verdana"/>
                <a:cs typeface="Calibri"/>
              </a:rPr>
              <a:t>]</a:t>
            </a:r>
            <a:endParaRPr lang="pt-BR">
              <a:solidFill>
                <a:srgbClr val="000000"/>
              </a:solidFill>
              <a:ea typeface="Verdana"/>
              <a:cs typeface="Calibri" panose="020F050202020403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como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minha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 ex 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uma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vez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disse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/>
                <a:ea typeface="Verdana"/>
              </a:rPr>
              <a:t>terminamos</a:t>
            </a:r>
            <a:r>
              <a:rPr lang="en-US" altLang="pt-BR" sz="3200" i="1" dirty="0">
                <a:solidFill>
                  <a:schemeClr val="bg1"/>
                </a:solidFill>
                <a:latin typeface="Verdana"/>
                <a:ea typeface="Verdana"/>
              </a:rPr>
              <a:t>”</a:t>
            </a:r>
            <a:endParaRPr lang="pt-BR" altLang="pt-BR" sz="32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227</cp:revision>
  <dcterms:created xsi:type="dcterms:W3CDTF">2021-05-14T17:32:15Z</dcterms:created>
  <dcterms:modified xsi:type="dcterms:W3CDTF">2026-10-13T22:43:23Z</dcterms:modified>
</cp:coreProperties>
</file>